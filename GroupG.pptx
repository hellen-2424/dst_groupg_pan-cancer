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79" r:id="rId3"/>
    <p:sldId id="280" r:id="rId4"/>
    <p:sldId id="258" r:id="rId5"/>
    <p:sldId id="259" r:id="rId6"/>
    <p:sldId id="260" r:id="rId7"/>
    <p:sldId id="286" r:id="rId8"/>
    <p:sldId id="315" r:id="rId9"/>
    <p:sldId id="295" r:id="rId11"/>
    <p:sldId id="294" r:id="rId12"/>
    <p:sldId id="277" r:id="rId13"/>
    <p:sldId id="293" r:id="rId14"/>
    <p:sldId id="314" r:id="rId15"/>
    <p:sldId id="307" r:id="rId16"/>
    <p:sldId id="262" r:id="rId17"/>
    <p:sldId id="318" r:id="rId18"/>
    <p:sldId id="296" r:id="rId19"/>
    <p:sldId id="263" r:id="rId20"/>
    <p:sldId id="317" r:id="rId21"/>
    <p:sldId id="309" r:id="rId22"/>
    <p:sldId id="302" r:id="rId23"/>
    <p:sldId id="288" r:id="rId24"/>
    <p:sldId id="319" r:id="rId25"/>
    <p:sldId id="312" r:id="rId26"/>
    <p:sldId id="303" r:id="rId27"/>
    <p:sldId id="304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E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336" y="80"/>
      </p:cViewPr>
      <p:guideLst>
        <p:guide orient="horz" pos="2132"/>
        <p:guide pos="38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1195" y="61595"/>
            <a:ext cx="10466705" cy="79565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2320" y="125285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36625" y="1122680"/>
            <a:ext cx="10503535" cy="2387600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Design and Implementation of </a:t>
            </a:r>
            <a:br>
              <a:rPr lang="en-US" altLang="zh-CN"/>
            </a:br>
            <a:r>
              <a:rPr lang="en-US" altLang="zh-CN"/>
              <a:t>a Pan-Cancer Immune Interaction Database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380548"/>
            <a:ext cx="9144000" cy="1655762"/>
          </a:xfrm>
        </p:spPr>
        <p:txBody>
          <a:bodyPr/>
          <a:lstStyle/>
          <a:p>
            <a:r>
              <a:rPr lang="en-US" altLang="zh-CN"/>
              <a:t>Group G</a:t>
            </a:r>
            <a:r>
              <a:rPr lang="zh-CN" altLang="en-US"/>
              <a:t>：</a:t>
            </a:r>
            <a:r>
              <a:rPr lang="en-US" altLang="zh-CN"/>
              <a:t>Zhang Xinyu, Huang Yunzi, Tang Wanling,</a:t>
            </a:r>
            <a:endParaRPr lang="en-US" altLang="zh-CN"/>
          </a:p>
          <a:p>
            <a:r>
              <a:rPr lang="en-US" altLang="zh-CN">
                <a:sym typeface="+mn-ea"/>
              </a:rPr>
              <a:t>Shen Yiqing, Li Yue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Background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b="1"/>
              <a:t>The Need for Structured Pan-Cancer Data Integration</a:t>
            </a:r>
            <a:endParaRPr lang="zh-CN" altLang="en-US" sz="2400"/>
          </a:p>
          <a:p>
            <a:r>
              <a:rPr lang="en-US" altLang="zh-CN" sz="2000" b="1"/>
              <a:t>Abundant Data Foundation</a:t>
            </a:r>
            <a:r>
              <a:rPr lang="zh-CN" altLang="en-US" sz="2000"/>
              <a:t>：</a:t>
            </a:r>
            <a:r>
              <a:rPr lang="en-US" altLang="zh-CN" sz="2000"/>
              <a:t>Large-scale projects (e.g.TCGA) provide </a:t>
            </a:r>
            <a:r>
              <a:rPr lang="en-US" altLang="zh-CN" sz="2000">
                <a:solidFill>
                  <a:schemeClr val="tx1"/>
                </a:solidFill>
              </a:rPr>
              <a:t>extensive pan-cancer data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 b="1"/>
              <a:t>Challenges:</a:t>
            </a:r>
            <a:endParaRPr lang="en-US" altLang="zh-CN" sz="2000" b="1"/>
          </a:p>
          <a:p>
            <a:pPr lvl="1"/>
            <a:r>
              <a:rPr lang="en-US" altLang="zh-CN" sz="2000"/>
              <a:t>Data fragmentation</a:t>
            </a:r>
            <a:endParaRPr lang="zh-CN" altLang="en-US" sz="2000"/>
          </a:p>
          <a:p>
            <a:pPr lvl="1"/>
            <a:r>
              <a:rPr lang="en-US" altLang="zh-CN" sz="2000"/>
              <a:t>Weak associations</a:t>
            </a:r>
            <a:endParaRPr lang="en-US" altLang="zh-CN" sz="2000"/>
          </a:p>
          <a:p>
            <a:pPr lvl="1"/>
            <a:r>
              <a:rPr lang="en-US" altLang="zh-CN" sz="2000"/>
              <a:t>Inconsistent formats: Heterogeneous data standards (e.g., TPM vs. log2(FPKM))</a:t>
            </a:r>
            <a:endParaRPr lang="en-US" altLang="zh-CN" sz="2000" b="1"/>
          </a:p>
          <a:p>
            <a:pPr marL="0" indent="0">
              <a:buNone/>
            </a:pPr>
            <a:endParaRPr lang="en-US" altLang="zh-CN" sz="2400" b="1"/>
          </a:p>
          <a:p>
            <a:pPr marL="0" indent="0">
              <a:buNone/>
            </a:pPr>
            <a:endParaRPr lang="en-US" altLang="zh-CN" sz="200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91530" y="3804920"/>
            <a:ext cx="4469130" cy="954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/>
              <a:t>To address the "data overload" issue and enhance research depth</a:t>
            </a:r>
            <a:endParaRPr lang="en-US" altLang="zh-CN" sz="2000"/>
          </a:p>
        </p:txBody>
      </p:sp>
      <p:sp>
        <p:nvSpPr>
          <p:cNvPr id="6" name="下箭头 5"/>
          <p:cNvSpPr/>
          <p:nvPr/>
        </p:nvSpPr>
        <p:spPr>
          <a:xfrm>
            <a:off x="5405755" y="3805555"/>
            <a:ext cx="485775" cy="79311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782295" y="151416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>
                <a:solidFill>
                  <a:schemeClr val="tx1"/>
                </a:solidFill>
              </a:rPr>
              <a:t> </a:t>
            </a:r>
            <a:endParaRPr lang="en-US" altLang="zh-CN" sz="2400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400" b="1"/>
          </a:p>
          <a:p>
            <a:pPr marL="0" indent="0">
              <a:buNone/>
            </a:pPr>
            <a:endParaRPr lang="en-US" altLang="zh-CN" sz="2400" b="1"/>
          </a:p>
          <a:p>
            <a:pPr marL="0" indent="0">
              <a:buNone/>
            </a:pPr>
            <a:endParaRPr lang="en-US" altLang="zh-CN" sz="2400" b="1"/>
          </a:p>
          <a:p>
            <a:pPr marL="0" indent="0">
              <a:buNone/>
            </a:pPr>
            <a:endParaRPr lang="en-US" altLang="zh-CN" sz="2400" b="1"/>
          </a:p>
          <a:p>
            <a:pPr marL="0" indent="0">
              <a:buNone/>
            </a:pPr>
            <a:endParaRPr lang="en-US" altLang="zh-CN" sz="2400" b="1"/>
          </a:p>
          <a:p>
            <a:pPr marL="0" indent="0">
              <a:buNone/>
            </a:pPr>
            <a:endParaRPr lang="en-US" altLang="zh-CN" sz="2400" b="1"/>
          </a:p>
          <a:p>
            <a:pPr marL="0" indent="0">
              <a:buNone/>
            </a:pPr>
            <a:r>
              <a:rPr lang="en-US" altLang="zh-CN" sz="2400" b="1"/>
              <a:t>Why focus on immune-related data?</a:t>
            </a:r>
            <a:endParaRPr lang="en-US" altLang="zh-CN" sz="2400" b="1"/>
          </a:p>
          <a:p>
            <a:r>
              <a:rPr lang="en-US" altLang="zh-CN" sz="2000"/>
              <a:t>Core Biological Role: Immune signaling is a </a:t>
            </a:r>
            <a:r>
              <a:rPr lang="en-US" altLang="zh-CN" sz="2000">
                <a:solidFill>
                  <a:srgbClr val="FF0000"/>
                </a:solidFill>
              </a:rPr>
              <a:t>central driver </a:t>
            </a:r>
            <a:r>
              <a:rPr lang="en-US" altLang="zh-CN" sz="2000"/>
              <a:t>of tumor initiation, progression, and therapeutic response</a:t>
            </a:r>
            <a:endParaRPr lang="en-US" altLang="zh-CN" sz="2000"/>
          </a:p>
          <a:p>
            <a:r>
              <a:rPr lang="en-US" altLang="zh-CN" sz="2000"/>
              <a:t>Functional Cohesion: Immune molecules form a well-defined, interconnected regulatory network, avoiding "disordered data aggregation" and ensuring </a:t>
            </a:r>
            <a:r>
              <a:rPr lang="en-US" altLang="zh-CN" sz="2000">
                <a:solidFill>
                  <a:srgbClr val="FF0000"/>
                </a:solidFill>
              </a:rPr>
              <a:t>focused analysis</a:t>
            </a:r>
            <a:endParaRPr lang="en-US" altLang="zh-CN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/>
              <a:t>Research Objectives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1142" y="1529455"/>
            <a:ext cx="11409680" cy="4351655"/>
          </a:xfrm>
        </p:spPr>
        <p:txBody>
          <a:bodyPr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altLang="zh-CN" sz="2800"/>
              <a:t>Build a normalized relational database dedicated to pan-cancer immune interactions:</a:t>
            </a:r>
            <a:endParaRPr lang="en-US" altLang="zh-CN" sz="2800"/>
          </a:p>
          <a:p>
            <a:pPr lvl="1">
              <a:lnSpc>
                <a:spcPct val="100000"/>
              </a:lnSpc>
            </a:pPr>
            <a:r>
              <a:rPr lang="en-US" altLang="zh-CN" sz="2800"/>
              <a:t>Gene/protein annotations</a:t>
            </a:r>
            <a:endParaRPr lang="en-US" altLang="zh-CN" sz="2800"/>
          </a:p>
          <a:p>
            <a:pPr lvl="1">
              <a:lnSpc>
                <a:spcPct val="100000"/>
              </a:lnSpc>
            </a:pPr>
            <a:r>
              <a:rPr lang="en-US" altLang="zh-CN" sz="2800"/>
              <a:t>Ligand-receptor interactions</a:t>
            </a:r>
            <a:endParaRPr lang="en-US" altLang="zh-CN" sz="2800"/>
          </a:p>
          <a:p>
            <a:pPr lvl="1">
              <a:lnSpc>
                <a:spcPct val="100000"/>
              </a:lnSpc>
            </a:pPr>
            <a:r>
              <a:rPr lang="en-US" altLang="zh-CN" sz="2800"/>
              <a:t>Patient clinical data</a:t>
            </a:r>
            <a:endParaRPr lang="en-US" altLang="zh-CN" sz="2800"/>
          </a:p>
          <a:p>
            <a:endParaRPr lang="en-US" altLang="zh-CN" sz="2800" b="1"/>
          </a:p>
          <a:p>
            <a:pPr marL="0" indent="0">
              <a:buNone/>
            </a:pPr>
            <a:endParaRPr lang="en-US" altLang="zh-CN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Database Schema Design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2320" y="1252855"/>
            <a:ext cx="10515600" cy="4654550"/>
          </a:xfrm>
        </p:spPr>
        <p:txBody>
          <a:bodyPr>
            <a:noAutofit/>
          </a:bodyPr>
          <a:lstStyle/>
          <a:p>
            <a:r>
              <a:rPr lang="en-US" altLang="zh-CN" sz="2400" b="1"/>
              <a:t>Focused Cancer Types:</a:t>
            </a:r>
            <a:r>
              <a:rPr lang="en-US" altLang="zh-CN" sz="2400"/>
              <a:t> </a:t>
            </a:r>
            <a:endParaRPr lang="en-US" altLang="zh-CN" sz="2400"/>
          </a:p>
          <a:p>
            <a:pPr lvl="1"/>
            <a:r>
              <a:rPr lang="en-US" altLang="zh-CN" sz="2000"/>
              <a:t>Breast Invasive Carcinoma (BRCA)</a:t>
            </a:r>
            <a:endParaRPr lang="en-US" altLang="zh-CN" sz="2000"/>
          </a:p>
          <a:p>
            <a:pPr lvl="1"/>
            <a:r>
              <a:rPr lang="en-US" altLang="zh-CN" sz="2000"/>
              <a:t>Colon Adenocarcinoma (COAD)</a:t>
            </a:r>
            <a:endParaRPr lang="en-US" altLang="zh-CN" sz="2000"/>
          </a:p>
          <a:p>
            <a:pPr lvl="1"/>
            <a:r>
              <a:rPr lang="en-US" altLang="zh-CN" sz="2000"/>
              <a:t>Lung Adenocarcinoma (LUAD) </a:t>
            </a:r>
            <a:endParaRPr lang="en-US" altLang="zh-CN" sz="2000"/>
          </a:p>
          <a:p>
            <a:r>
              <a:rPr lang="en-US" altLang="zh-CN" sz="2400" b="1"/>
              <a:t>Selection Rationale: </a:t>
            </a:r>
            <a:endParaRPr lang="en-US" altLang="zh-CN" sz="2400" b="1"/>
          </a:p>
          <a:p>
            <a:pPr lvl="1"/>
            <a:r>
              <a:rPr lang="en-US" altLang="zh-CN" sz="2000"/>
              <a:t>Sufficient data volume</a:t>
            </a:r>
            <a:endParaRPr lang="en-US" altLang="zh-CN" sz="2000"/>
          </a:p>
          <a:p>
            <a:pPr lvl="1"/>
            <a:r>
              <a:rPr lang="en-US" altLang="zh-CN" sz="2000"/>
              <a:t>Significant biological differences → easy to explore the "</a:t>
            </a:r>
            <a:r>
              <a:rPr lang="en-US" altLang="zh-CN" sz="2000">
                <a:solidFill>
                  <a:srgbClr val="FF0000"/>
                </a:solidFill>
              </a:rPr>
              <a:t>commonality + specificity</a:t>
            </a:r>
            <a:r>
              <a:rPr lang="en-US" altLang="zh-CN" sz="2000"/>
              <a:t>" of secreted protein-receptors</a:t>
            </a:r>
            <a:endParaRPr lang="en-US" altLang="zh-CN" sz="2000"/>
          </a:p>
          <a:p>
            <a:pPr lvl="1"/>
            <a:r>
              <a:rPr lang="en-US" altLang="zh-CN" sz="2000"/>
              <a:t>Research hotspot matching</a:t>
            </a:r>
            <a:endParaRPr lang="en-US" altLang="zh-CN" sz="2000"/>
          </a:p>
          <a:p>
            <a:endParaRPr lang="en-US" altLang="zh-CN" sz="2000"/>
          </a:p>
          <a:p>
            <a:r>
              <a:rPr lang="en-US" altLang="zh-CN" sz="2400" b="1"/>
              <a:t>Table Design Principle: </a:t>
            </a:r>
            <a:r>
              <a:rPr lang="en-US" altLang="zh-CN" sz="2400"/>
              <a:t>Third Normal Form (3NF)</a:t>
            </a:r>
            <a:endParaRPr lang="en-US" altLang="zh-CN" sz="2400"/>
          </a:p>
          <a:p>
            <a:pPr marL="0" indent="0">
              <a:buNone/>
            </a:pPr>
            <a:r>
              <a:rPr lang="en-US" altLang="zh-CN" sz="2400"/>
              <a:t>   </a:t>
            </a:r>
            <a:r>
              <a:rPr lang="en-US" altLang="zh-CN" sz="2000"/>
              <a:t> Each entity (gene/cancer type/patient) corresponds to an independent table, </a:t>
            </a:r>
            <a:endParaRPr lang="en-US" altLang="zh-CN" sz="2000"/>
          </a:p>
          <a:p>
            <a:pPr marL="0" indent="0">
              <a:buNone/>
            </a:pPr>
            <a:r>
              <a:rPr lang="en-US" altLang="zh-CN" sz="2000"/>
              <a:t>     which is associated through foreign keys to avoid data redundancy</a:t>
            </a:r>
            <a:endParaRPr lang="en-US" altLang="zh-CN" sz="2000"/>
          </a:p>
          <a:p>
            <a:pPr marL="0" indent="0">
              <a:buNone/>
            </a:pPr>
            <a:endParaRPr lang="en-US" altLang="zh-CN" sz="2000"/>
          </a:p>
          <a:p>
            <a:pPr marL="0" indent="0">
              <a:buNone/>
            </a:pPr>
            <a:endParaRPr lang="en-US" altLang="zh-CN" sz="1400"/>
          </a:p>
          <a:p>
            <a:endParaRPr lang="en-US" altLang="zh-CN" sz="1400"/>
          </a:p>
          <a:p>
            <a:endParaRPr lang="en-US" altLang="zh-CN" sz="1400"/>
          </a:p>
          <a:p>
            <a:pPr lvl="1"/>
            <a:endParaRPr lang="en-US" altLang="zh-CN" sz="2000" b="1"/>
          </a:p>
          <a:p>
            <a:pPr lvl="1"/>
            <a:endParaRPr lang="en-US" altLang="zh-CN" sz="2000" b="1"/>
          </a:p>
          <a:p>
            <a:pPr lvl="1"/>
            <a:endParaRPr lang="en-US" altLang="zh-CN" sz="2000" b="1"/>
          </a:p>
          <a:p>
            <a:pPr lvl="1"/>
            <a:endParaRPr lang="en-US" altLang="zh-CN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ER Diagram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/>
          </a:p>
        </p:txBody>
      </p:sp>
      <p:pic>
        <p:nvPicPr>
          <p:cNvPr id="5" name="图片 4" descr="post_object_image_170497919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616" y="945751"/>
            <a:ext cx="9277111" cy="56333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 descr="post_object_image_26269600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25" y="1518285"/>
            <a:ext cx="10224135" cy="46697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Cancer_Type Table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2314575" y="2280920"/>
            <a:ext cx="3860800" cy="334581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5" idx="0"/>
          </p:cNvCxnSpPr>
          <p:nvPr/>
        </p:nvCxnSpPr>
        <p:spPr>
          <a:xfrm flipH="1" flipV="1">
            <a:off x="4231005" y="1765300"/>
            <a:ext cx="13970" cy="51562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272155" y="137604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Primary Key</a:t>
            </a:r>
            <a:endParaRPr lang="en-US" altLang="zh-CN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Patient &amp; Sample Table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2320" y="1252855"/>
            <a:ext cx="11409680" cy="5605145"/>
          </a:xfrm>
        </p:spPr>
        <p:txBody>
          <a:bodyPr>
            <a:normAutofit/>
          </a:bodyPr>
          <a:lstStyle/>
          <a:p>
            <a:r>
              <a:rPr lang="en-US" altLang="zh-CN" sz="2400" b="1"/>
              <a:t>Data Source: </a:t>
            </a:r>
            <a:r>
              <a:rPr lang="en-US" altLang="zh-CN" sz="2400"/>
              <a:t>TCGA database</a:t>
            </a:r>
            <a:endParaRPr lang="en-US" altLang="zh-CN" sz="2400"/>
          </a:p>
          <a:p>
            <a:r>
              <a:rPr lang="en-US" altLang="zh-CN" sz="2400" b="1"/>
              <a:t>Tool:</a:t>
            </a:r>
            <a:r>
              <a:rPr lang="en-US" altLang="zh-CN" sz="2400"/>
              <a:t> python</a:t>
            </a:r>
            <a:endParaRPr lang="en-US" altLang="zh-CN" sz="2400"/>
          </a:p>
          <a:p>
            <a:r>
              <a:rPr lang="en-US" altLang="zh-CN" sz="2400" b="1"/>
              <a:t>Filter Criteria</a:t>
            </a:r>
            <a:endParaRPr lang="en-US" altLang="zh-CN" sz="2400" b="1"/>
          </a:p>
          <a:p>
            <a:pPr lvl="1"/>
            <a:r>
              <a:rPr lang="en-US" altLang="zh-CN"/>
              <a:t>Patient-Level Deduplication: Many are multiple - sample duplicates from the same patient (e.g. primary and metastatic lesion samples)</a:t>
            </a:r>
            <a:endParaRPr lang="en-US" altLang="zh-CN"/>
          </a:p>
          <a:p>
            <a:pPr marL="457200" lvl="1" indent="0">
              <a:buNone/>
            </a:pPr>
            <a:endParaRPr lang="en-US" altLang="zh-CN"/>
          </a:p>
          <a:p>
            <a:endParaRPr lang="zh-CN" altLang="en-US"/>
          </a:p>
        </p:txBody>
      </p:sp>
      <p:pic>
        <p:nvPicPr>
          <p:cNvPr id="5" name="图片 4" descr="post_object_image_17512869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6024" y="3385294"/>
            <a:ext cx="8534400" cy="1619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Patient &amp; Sample Table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2320" y="1252855"/>
            <a:ext cx="11409680" cy="5605145"/>
          </a:xfrm>
        </p:spPr>
        <p:txBody>
          <a:bodyPr>
            <a:normAutofit/>
          </a:bodyPr>
          <a:lstStyle/>
          <a:p>
            <a:r>
              <a:rPr lang="en-US" altLang="zh-CN" sz="2400" b="1">
                <a:sym typeface="+mn-ea"/>
              </a:rPr>
              <a:t>Data Source:</a:t>
            </a:r>
            <a:r>
              <a:rPr lang="en-US" altLang="zh-CN" sz="2400">
                <a:sym typeface="+mn-ea"/>
              </a:rPr>
              <a:t> TCGA database</a:t>
            </a:r>
            <a:endParaRPr lang="en-US" altLang="zh-CN" sz="2400">
              <a:sym typeface="+mn-ea"/>
            </a:endParaRPr>
          </a:p>
          <a:p>
            <a:r>
              <a:rPr lang="en-US" altLang="zh-CN" sz="2400" b="1"/>
              <a:t>Tool:</a:t>
            </a:r>
            <a:r>
              <a:rPr lang="en-US" altLang="zh-CN" sz="2400"/>
              <a:t> python</a:t>
            </a:r>
            <a:endParaRPr lang="en-US" altLang="zh-CN" sz="2400"/>
          </a:p>
          <a:p>
            <a:r>
              <a:rPr lang="en-US" altLang="zh-CN" sz="2400" b="1">
                <a:cs typeface="+mn-lt"/>
                <a:sym typeface="+mn-ea"/>
              </a:rPr>
              <a:t>Filter Criteria</a:t>
            </a:r>
            <a:endParaRPr lang="en-US" altLang="zh-CN" sz="2400" b="1"/>
          </a:p>
          <a:p>
            <a:pPr lvl="1"/>
            <a:r>
              <a:rPr lang="en-US" altLang="zh-CN" sz="2400"/>
              <a:t>Patient-Level Deduplication: Many are multiple - sample duplicates from the same patient (e.g. primary and metastatic lesion samples)</a:t>
            </a:r>
            <a:endParaRPr lang="en-US" altLang="zh-CN" sz="2400"/>
          </a:p>
          <a:p>
            <a:pPr lvl="1"/>
            <a:r>
              <a:rPr lang="en-US" altLang="zh-CN" sz="2400"/>
              <a:t>Core Field Non-Missing Filter: Cancer type, gender, and age are fundamental for pan-cancer analysis</a:t>
            </a:r>
            <a:endParaRPr lang="en-US" altLang="zh-CN" sz="2400"/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endParaRPr lang="zh-CN" altLang="en-US"/>
          </a:p>
        </p:txBody>
      </p:sp>
      <p:pic>
        <p:nvPicPr>
          <p:cNvPr id="4" name="图片 3" descr="post_object_image_162023099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190" y="4056065"/>
            <a:ext cx="8534400" cy="2628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Patient &amp; Sample Table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2320" y="1252855"/>
            <a:ext cx="11409680" cy="5605145"/>
          </a:xfrm>
        </p:spPr>
        <p:txBody>
          <a:bodyPr>
            <a:normAutofit/>
          </a:bodyPr>
          <a:lstStyle/>
          <a:p>
            <a:r>
              <a:rPr lang="en-US" altLang="zh-CN" sz="2400" b="1">
                <a:sym typeface="+mn-ea"/>
              </a:rPr>
              <a:t>Data Source:</a:t>
            </a:r>
            <a:r>
              <a:rPr lang="en-US" altLang="zh-CN" sz="2400">
                <a:sym typeface="+mn-ea"/>
              </a:rPr>
              <a:t> TCGA database</a:t>
            </a:r>
            <a:endParaRPr lang="en-US" altLang="zh-CN" sz="2400">
              <a:sym typeface="+mn-ea"/>
            </a:endParaRPr>
          </a:p>
          <a:p>
            <a:r>
              <a:rPr lang="en-US" altLang="zh-CN" sz="2400" b="1"/>
              <a:t>Tool:</a:t>
            </a:r>
            <a:r>
              <a:rPr lang="en-US" altLang="zh-CN" sz="2400"/>
              <a:t> python</a:t>
            </a:r>
            <a:endParaRPr lang="en-US" altLang="zh-CN" sz="2400"/>
          </a:p>
          <a:p>
            <a:r>
              <a:rPr lang="en-US" altLang="zh-CN" sz="2400" b="1">
                <a:cs typeface="+mn-lt"/>
                <a:sym typeface="+mn-ea"/>
              </a:rPr>
              <a:t>Filter Criteria</a:t>
            </a:r>
            <a:endParaRPr lang="en-US" altLang="zh-CN" sz="2400" b="1"/>
          </a:p>
          <a:p>
            <a:pPr lvl="1"/>
            <a:r>
              <a:rPr lang="en-US" altLang="zh-CN" sz="2400"/>
              <a:t>Patient-Level Deduplication: </a:t>
            </a:r>
            <a:r>
              <a:rPr lang="en-US" altLang="zh-CN"/>
              <a:t>Many are multiple - sample duplicates from the same patient (e.g. primary and metastatic lesion samples)</a:t>
            </a:r>
            <a:endParaRPr lang="en-US" altLang="zh-CN"/>
          </a:p>
          <a:p>
            <a:pPr lvl="1"/>
            <a:r>
              <a:rPr lang="en-US" altLang="zh-CN" sz="2400"/>
              <a:t>Core Field Non-Missing Filter: Cancer type, gender, and age are fundamental for pan-cancer analysis</a:t>
            </a:r>
            <a:endParaRPr lang="en-US" altLang="zh-CN" sz="2400"/>
          </a:p>
          <a:p>
            <a:pPr lvl="1"/>
            <a:r>
              <a:rPr lang="en-US" altLang="zh-CN" sz="2400"/>
              <a:t>Small-Cohort Filter: Patients with &lt;50 samples lack statistical power and may bias pan-cancer conclusions</a:t>
            </a:r>
            <a:endParaRPr lang="en-US" altLang="zh-CN" sz="2400"/>
          </a:p>
          <a:p>
            <a:pPr marL="457200" lvl="1" indent="0">
              <a:buNone/>
            </a:pPr>
            <a:endParaRPr lang="en-US" altLang="zh-CN" sz="2400"/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endParaRPr lang="zh-CN" altLang="en-US"/>
          </a:p>
        </p:txBody>
      </p:sp>
      <p:pic>
        <p:nvPicPr>
          <p:cNvPr id="4" name="图片 3" descr="post_object_image_11071419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156" y="4814161"/>
            <a:ext cx="8534400" cy="1362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Patient &amp; Sample Table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/>
              <a:t>3NF, divided to two tables</a:t>
            </a:r>
            <a:endParaRPr lang="en-US" altLang="zh-CN"/>
          </a:p>
          <a:p>
            <a:r>
              <a:rPr lang="en-US" altLang="zh-CN"/>
              <a:t>patient table: primary key---patient_id, foreign key---cancer_type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sample table: primary key---sample_id, foreign key---patient_id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20" y="4753610"/>
            <a:ext cx="7279640" cy="15563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820" y="2178685"/>
            <a:ext cx="6835140" cy="162623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050290" y="2280920"/>
            <a:ext cx="1198245" cy="152400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4410" y="4832350"/>
            <a:ext cx="1447800" cy="147764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Gene_Cancer Table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2320" y="1252855"/>
            <a:ext cx="11158855" cy="3029890"/>
          </a:xfrm>
        </p:spPr>
        <p:txBody>
          <a:bodyPr>
            <a:noAutofit/>
          </a:bodyPr>
          <a:lstStyle/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Data Source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- Expression Data: TCGA (via UCSC Xena) 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- Gene Annotation: Human Protein Atlas (HPA)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Tool: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R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Integration Logic</a:t>
            </a:r>
            <a:r>
              <a:rPr lang="zh-CN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endParaRPr lang="zh-C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Extract gene expression profiles of all patients from TCGA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  - Format: Genes (rows)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Sample_id (columns)      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  - Values: FPKM_normalized expression                          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filtered for both tumor and matched normal tissue samples from patients with 3 interested cancers: 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BRCA, LUAD and COAD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1210" y="4812665"/>
            <a:ext cx="6061075" cy="20021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Gene_Cancer Table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721" y="3611475"/>
            <a:ext cx="6870337" cy="2553373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2320" y="1252855"/>
            <a:ext cx="11158855" cy="3029890"/>
          </a:xfrm>
        </p:spPr>
        <p:txBody>
          <a:bodyPr>
            <a:noAutofit/>
          </a:bodyPr>
          <a:lstStyle/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Filter Logic</a:t>
            </a:r>
            <a:r>
              <a:rPr lang="zh-CN"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：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Differential Expression Analysis: 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914400" lvl="2" indent="0">
              <a:buNone/>
            </a:pPr>
            <a:r>
              <a:rPr lang="en-US" altLang="zh-CN" sz="2000">
                <a:sym typeface="+mn-ea"/>
              </a:rPr>
              <a:t>-Calculate log</a:t>
            </a:r>
            <a:r>
              <a:rPr lang="en-US" altLang="en-US" sz="2000">
                <a:sym typeface="+mn-ea"/>
              </a:rPr>
              <a:t>₂</a:t>
            </a:r>
            <a:r>
              <a:rPr lang="en-US" altLang="zh-CN" sz="2000">
                <a:sym typeface="+mn-ea"/>
              </a:rPr>
              <a:t>FC (tumor vs. normal)</a:t>
            </a:r>
            <a:endParaRPr lang="en-US" altLang="zh-CN" sz="2000"/>
          </a:p>
          <a:p>
            <a:pPr marL="914400" lvl="2" indent="0" algn="l">
              <a:buNone/>
            </a:pPr>
            <a:r>
              <a:rPr lang="en-US" altLang="zh-CN" sz="2000">
                <a:sym typeface="+mn-ea"/>
              </a:rPr>
              <a:t>-Apply False Discovery Rate (FDR) correction</a:t>
            </a:r>
            <a:endParaRPr lang="en-US" altLang="zh-CN" sz="2000"/>
          </a:p>
          <a:p>
            <a:pPr marL="914400" lvl="2" indent="0" algn="l">
              <a:buNone/>
            </a:pPr>
            <a:r>
              <a:rPr lang="en-US" altLang="zh-CN" sz="2000">
                <a:sym typeface="+mn-ea"/>
              </a:rPr>
              <a:t>-Filter: |log</a:t>
            </a:r>
            <a:r>
              <a:rPr lang="en-US" altLang="en-US" sz="2000">
                <a:sym typeface="+mn-ea"/>
              </a:rPr>
              <a:t>₂</a:t>
            </a:r>
            <a:r>
              <a:rPr lang="en-US" altLang="zh-CN" sz="2000">
                <a:sym typeface="+mn-ea"/>
              </a:rPr>
              <a:t>FC| &gt; 0.585 &amp; adj.p &lt; 0.05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Filter Immune-focused secreted and receptor screening basing on HPA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Merge cross-cancer gene data into a single structured table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263" y="5311784"/>
            <a:ext cx="6979685" cy="12074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sym typeface="+mn-ea"/>
              </a:rPr>
              <a:t>Gene_Cancer Table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2320" y="125285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6400"/>
          </a:p>
          <a:p>
            <a:endParaRPr lang="en-US" altLang="zh-CN" sz="6400"/>
          </a:p>
          <a:p>
            <a:endParaRPr lang="en-US" altLang="zh-CN" sz="6400"/>
          </a:p>
        </p:txBody>
      </p:sp>
      <p:pic>
        <p:nvPicPr>
          <p:cNvPr id="4" name="图片 3" descr="post_object_image_41431894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1663700"/>
            <a:ext cx="6182360" cy="33597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46175" y="99949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ym typeface="+mn-ea"/>
              </a:rPr>
              <a:t>Intermediate Table</a:t>
            </a:r>
            <a:endParaRPr lang="en-US" altLang="zh-CN" sz="280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155" y="1663700"/>
            <a:ext cx="5524500" cy="33693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369175" y="9613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Final Gene_cancer table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Gene </a:t>
            </a:r>
            <a:r>
              <a:rPr lang="zh-CN" altLang="en-US"/>
              <a:t>&amp; </a:t>
            </a:r>
            <a:r>
              <a:rPr lang="en-US" altLang="zh-CN"/>
              <a:t>Protein Tables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2320" y="1252855"/>
            <a:ext cx="11317143" cy="3191264"/>
          </a:xfrm>
        </p:spPr>
        <p:txBody>
          <a:bodyPr>
            <a:normAutofit fontScale="42500" lnSpcReduction="10000"/>
          </a:bodyPr>
          <a:lstStyle/>
          <a:p>
            <a:r>
              <a:rPr lang="en-US" altLang="zh-CN" sz="5700" b="1"/>
              <a:t>Data Source:</a:t>
            </a:r>
            <a:r>
              <a:rPr lang="en-US" altLang="zh-CN" sz="5700"/>
              <a:t> </a:t>
            </a:r>
            <a:r>
              <a:rPr lang="en-US" altLang="zh-CN" sz="5700">
                <a:sym typeface="+mn-ea"/>
              </a:rPr>
              <a:t>TCGA (via UCSC Xena) </a:t>
            </a:r>
            <a:endParaRPr lang="en-US" altLang="zh-CN" sz="5700">
              <a:sym typeface="+mn-ea"/>
            </a:endParaRPr>
          </a:p>
          <a:p>
            <a:r>
              <a:rPr lang="en-US" altLang="zh-CN" sz="5700" b="1">
                <a:sym typeface="+mn-ea"/>
              </a:rPr>
              <a:t>Tool:</a:t>
            </a:r>
            <a:r>
              <a:rPr lang="en-US" altLang="zh-CN" sz="5700">
                <a:sym typeface="+mn-ea"/>
              </a:rPr>
              <a:t> R</a:t>
            </a:r>
            <a:endParaRPr lang="en-US" altLang="zh-CN" sz="5700"/>
          </a:p>
          <a:p>
            <a:r>
              <a:rPr lang="en-US" altLang="zh-CN" sz="5700" b="1"/>
              <a:t>Integration Logic:</a:t>
            </a:r>
            <a:r>
              <a:rPr lang="en-US" altLang="zh-CN" sz="5700"/>
              <a:t> </a:t>
            </a:r>
            <a:endParaRPr lang="en-US" altLang="zh-CN" sz="5700"/>
          </a:p>
          <a:p>
            <a:pPr lvl="1">
              <a:buChar char="•"/>
            </a:pPr>
            <a:r>
              <a:rPr lang="en-US" altLang="zh-CN" sz="5700"/>
              <a:t>Aggregate significant differential expression results across cancers</a:t>
            </a:r>
            <a:endParaRPr lang="en-US" altLang="zh-CN" sz="5700"/>
          </a:p>
          <a:p>
            <a:pPr marL="457200" lvl="1" indent="0">
              <a:buNone/>
            </a:pPr>
            <a:r>
              <a:rPr lang="en-US" altLang="zh-CN" sz="5700"/>
              <a:t>      - Generate in_files indicator</a:t>
            </a:r>
            <a:endParaRPr lang="en-US" altLang="zh-CN" sz="5700"/>
          </a:p>
          <a:p>
            <a:pPr marL="0" lvl="1" indent="0">
              <a:buNone/>
            </a:pPr>
            <a:r>
              <a:rPr lang="en-US" altLang="zh-CN" sz="5700">
                <a:sym typeface="+mn-ea"/>
              </a:rPr>
              <a:t>           - Count occurrences: number of cancers where gene is significant</a:t>
            </a:r>
            <a:endParaRPr lang="en-US" altLang="zh-CN" sz="5700"/>
          </a:p>
          <a:p>
            <a:pPr lvl="1">
              <a:buChar char="•"/>
            </a:pPr>
            <a:r>
              <a:rPr lang="en-US" altLang="zh-CN" sz="5700"/>
              <a:t>Label immune category</a:t>
            </a:r>
            <a:endParaRPr lang="en-US" altLang="zh-CN" sz="5700"/>
          </a:p>
        </p:txBody>
      </p:sp>
      <p:pic>
        <p:nvPicPr>
          <p:cNvPr id="5" name="图片 4" descr="post_object_image_2491400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2334" y="4317678"/>
            <a:ext cx="4571752" cy="1900800"/>
          </a:xfrm>
          <a:prstGeom prst="rect">
            <a:avLst/>
          </a:prstGeom>
        </p:spPr>
      </p:pic>
      <p:pic>
        <p:nvPicPr>
          <p:cNvPr id="6" name="图片 5" descr="post_object_image_11500772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900" y="4248793"/>
            <a:ext cx="5765728" cy="22264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00810"/>
            <a:ext cx="5446395" cy="32981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sym typeface="+mn-ea"/>
              </a:rPr>
              <a:t>Gene </a:t>
            </a:r>
            <a:r>
              <a:rPr lang="en-US" altLang="zh-CN">
                <a:cs typeface="Arial" panose="020B0604020202020204" pitchFamily="34" charset="0"/>
                <a:sym typeface="+mn-ea"/>
              </a:rPr>
              <a:t>Table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2320" y="1252855"/>
            <a:ext cx="7223760" cy="3966845"/>
          </a:xfrm>
        </p:spPr>
        <p:txBody>
          <a:bodyPr>
            <a:normAutofit fontScale="37500" lnSpcReduction="10000"/>
          </a:bodyPr>
          <a:lstStyle/>
          <a:p>
            <a:r>
              <a:rPr lang="en-US" altLang="zh-CN" sz="6665" b="1">
                <a:sym typeface="+mn-ea"/>
              </a:rPr>
              <a:t>Gene Identifier Mapping:</a:t>
            </a:r>
            <a:endParaRPr lang="en-US" altLang="zh-CN" sz="6665" b="1">
              <a:solidFill>
                <a:schemeClr val="tx1"/>
              </a:solidFill>
            </a:endParaRPr>
          </a:p>
          <a:p>
            <a:pPr lvl="1"/>
            <a:r>
              <a:rPr lang="en-US" altLang="zh-CN" sz="6665">
                <a:sym typeface="+mn-ea"/>
              </a:rPr>
              <a:t>Extract IDs</a:t>
            </a:r>
            <a:endParaRPr lang="en-US" altLang="zh-CN" sz="6665">
              <a:solidFill>
                <a:schemeClr val="tx1"/>
              </a:solidFill>
            </a:endParaRPr>
          </a:p>
          <a:p>
            <a:pPr lvl="2"/>
            <a:r>
              <a:rPr lang="en-US" altLang="zh-CN" sz="6665">
                <a:sym typeface="+mn-ea"/>
              </a:rPr>
              <a:t>Extract unique gene_ids from filtered results</a:t>
            </a:r>
            <a:endParaRPr lang="en-US" altLang="zh-CN" sz="6665">
              <a:solidFill>
                <a:schemeClr val="tx1"/>
              </a:solidFill>
            </a:endParaRPr>
          </a:p>
          <a:p>
            <a:pPr lvl="1"/>
            <a:r>
              <a:rPr lang="en-US" altLang="zh-CN" sz="6665">
                <a:sym typeface="+mn-ea"/>
              </a:rPr>
              <a:t>Reference</a:t>
            </a:r>
            <a:endParaRPr lang="en-US" altLang="zh-CN" sz="6665">
              <a:solidFill>
                <a:schemeClr val="tx1"/>
              </a:solidFill>
            </a:endParaRPr>
          </a:p>
          <a:p>
            <a:pPr lvl="2">
              <a:buChar char="•"/>
            </a:pPr>
            <a:r>
              <a:rPr lang="en-US" altLang="zh-CN" sz="6665">
                <a:sym typeface="+mn-ea"/>
              </a:rPr>
              <a:t>The latest HPA gene annotation file</a:t>
            </a:r>
            <a:endParaRPr lang="en-US" altLang="zh-CN" sz="6665">
              <a:solidFill>
                <a:schemeClr val="tx1"/>
              </a:solidFill>
            </a:endParaRPr>
          </a:p>
          <a:p>
            <a:pPr lvl="2">
              <a:buChar char="•"/>
            </a:pPr>
            <a:r>
              <a:rPr lang="en-US" altLang="zh-CN" sz="6665">
                <a:sym typeface="+mn-ea"/>
              </a:rPr>
              <a:t>File contains gene_ids to gene_symbol mappings</a:t>
            </a:r>
            <a:endParaRPr lang="en-US" altLang="zh-CN" sz="6665">
              <a:solidFill>
                <a:schemeClr val="tx1"/>
              </a:solidFill>
            </a:endParaRPr>
          </a:p>
          <a:p>
            <a:pPr lvl="1"/>
            <a:r>
              <a:rPr lang="en-US" altLang="zh-CN" sz="6665">
                <a:sym typeface="+mn-ea"/>
              </a:rPr>
              <a:t>Execute Mapping</a:t>
            </a:r>
            <a:endParaRPr lang="en-US" altLang="zh-CN" sz="6665">
              <a:solidFill>
                <a:schemeClr val="tx1"/>
              </a:solidFill>
            </a:endParaRPr>
          </a:p>
          <a:p>
            <a:pPr lvl="2" algn="l" rtl="0">
              <a:buFont typeface="Arial" panose="020B0604020202020204" pitchFamily="34" charset="0"/>
              <a:buChar char="•"/>
            </a:pPr>
            <a:r>
              <a:rPr lang="en-US" altLang="zh-CN" sz="6665">
                <a:sym typeface="+mn-ea"/>
              </a:rPr>
              <a:t>Match filtered genes with HPA file via gene_ids </a:t>
            </a:r>
            <a:endParaRPr lang="en-US" altLang="zh-CN" sz="6665">
              <a:solidFill>
                <a:schemeClr val="tx1"/>
              </a:solidFill>
            </a:endParaRPr>
          </a:p>
          <a:p>
            <a:pPr lvl="2" algn="l" rtl="0">
              <a:buFont typeface="Arial" panose="020B0604020202020204" pitchFamily="34" charset="0"/>
              <a:buChar char="•"/>
            </a:pPr>
            <a:r>
              <a:rPr lang="en-US" altLang="zh-CN" sz="6665">
                <a:sym typeface="+mn-ea"/>
              </a:rPr>
              <a:t>Retrieve corresponding official gene_symbol for each id</a:t>
            </a:r>
            <a:r>
              <a:rPr lang="en-US" altLang="zh-CN" sz="5715">
                <a:sym typeface="+mn-ea"/>
              </a:rPr>
              <a:t> </a:t>
            </a:r>
            <a:endParaRPr lang="en-US" altLang="zh-CN" sz="5715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b="52851"/>
          <a:stretch>
            <a:fillRect/>
          </a:stretch>
        </p:blipFill>
        <p:spPr>
          <a:xfrm>
            <a:off x="8522335" y="1633220"/>
            <a:ext cx="3121660" cy="119443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Protein Tables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3410" y="1210310"/>
            <a:ext cx="3444800" cy="674157"/>
          </a:xfrm>
        </p:spPr>
        <p:txBody>
          <a:bodyPr>
            <a:normAutofit fontScale="90000"/>
          </a:bodyPr>
          <a:lstStyle/>
          <a:p>
            <a:r>
              <a:rPr lang="en-US" altLang="zh-CN" sz="3100"/>
              <a:t>Intermediate table</a:t>
            </a:r>
            <a:endParaRPr lang="en-US" altLang="zh-CN" sz="3100"/>
          </a:p>
          <a:p>
            <a:endParaRPr lang="en-US" altLang="zh-CN" sz="3100"/>
          </a:p>
          <a:p>
            <a:pPr marL="0" indent="0">
              <a:buNone/>
            </a:pPr>
            <a:endParaRPr lang="en-US" altLang="zh-CN" sz="6400"/>
          </a:p>
        </p:txBody>
      </p:sp>
      <p:pic>
        <p:nvPicPr>
          <p:cNvPr id="4" name="图片 3" descr="post_object_image_828999066"/>
          <p:cNvPicPr>
            <a:picLocks noChangeAspect="1"/>
          </p:cNvPicPr>
          <p:nvPr/>
        </p:nvPicPr>
        <p:blipFill>
          <a:blip r:embed="rId2"/>
          <a:srcRect r="8503"/>
          <a:stretch>
            <a:fillRect/>
          </a:stretch>
        </p:blipFill>
        <p:spPr>
          <a:xfrm>
            <a:off x="215900" y="1828165"/>
            <a:ext cx="5530850" cy="2698750"/>
          </a:xfrm>
          <a:prstGeom prst="rect">
            <a:avLst/>
          </a:prstGeom>
        </p:spPr>
      </p:pic>
      <p:sp>
        <p:nvSpPr>
          <p:cNvPr id="5" name="内容占位符 2"/>
          <p:cNvSpPr>
            <a:spLocks noGrp="1"/>
          </p:cNvSpPr>
          <p:nvPr/>
        </p:nvSpPr>
        <p:spPr>
          <a:xfrm>
            <a:off x="6039025" y="1252830"/>
            <a:ext cx="5683722" cy="674185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600">
                <a:solidFill>
                  <a:schemeClr val="tx1"/>
                </a:solidFill>
              </a:rPr>
              <a:t>D</a:t>
            </a:r>
            <a:r>
              <a:rPr lang="en-US" altLang="zh-CN" sz="9600">
                <a:solidFill>
                  <a:schemeClr val="tx1"/>
                </a:solidFill>
                <a:cs typeface="Arial" panose="020B0604020202020204" pitchFamily="34" charset="0"/>
              </a:rPr>
              <a:t>evided 3 tables basing 3NF principle</a:t>
            </a:r>
            <a:endParaRPr lang="en-US" altLang="zh-CN" sz="9600"/>
          </a:p>
          <a:p>
            <a:endParaRPr lang="en-US" altLang="zh-CN" sz="9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205" y="3497580"/>
            <a:ext cx="3097530" cy="17037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t="78893"/>
          <a:stretch>
            <a:fillRect/>
          </a:stretch>
        </p:blipFill>
        <p:spPr>
          <a:xfrm>
            <a:off x="8519795" y="2895600"/>
            <a:ext cx="3121660" cy="5340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rcRect b="67486"/>
          <a:stretch>
            <a:fillRect/>
          </a:stretch>
        </p:blipFill>
        <p:spPr>
          <a:xfrm>
            <a:off x="8745220" y="5269230"/>
            <a:ext cx="2676525" cy="990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rcRect t="83815"/>
          <a:stretch>
            <a:fillRect/>
          </a:stretch>
        </p:blipFill>
        <p:spPr>
          <a:xfrm>
            <a:off x="8745220" y="6236335"/>
            <a:ext cx="2678430" cy="49339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038850" y="235902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protein_basic_category </a:t>
            </a:r>
            <a:endParaRPr lang="en-US" altLang="zh-CN" sz="2000"/>
          </a:p>
          <a:p>
            <a:r>
              <a:rPr lang="en-US" altLang="zh-CN" sz="2000"/>
              <a:t>table</a:t>
            </a:r>
            <a:endParaRPr lang="en-US" altLang="zh-CN" sz="2000"/>
          </a:p>
        </p:txBody>
      </p:sp>
      <p:sp>
        <p:nvSpPr>
          <p:cNvPr id="14" name="文本框 13"/>
          <p:cNvSpPr txBox="1"/>
          <p:nvPr/>
        </p:nvSpPr>
        <p:spPr>
          <a:xfrm>
            <a:off x="6038850" y="391541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000"/>
              <a:t>protein_function</a:t>
            </a: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/>
              <a:t>table</a:t>
            </a:r>
            <a:endParaRPr lang="en-US" altLang="zh-CN" sz="2000"/>
          </a:p>
        </p:txBody>
      </p:sp>
      <p:sp>
        <p:nvSpPr>
          <p:cNvPr id="15" name="文本框 14"/>
          <p:cNvSpPr txBox="1"/>
          <p:nvPr/>
        </p:nvSpPr>
        <p:spPr>
          <a:xfrm>
            <a:off x="6098540" y="567372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protein_cancer_count</a:t>
            </a:r>
            <a:endParaRPr lang="en-US" altLang="zh-CN"/>
          </a:p>
          <a:p>
            <a:r>
              <a:rPr lang="en-US" altLang="zh-CN"/>
              <a:t>table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Pair Table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b="1"/>
              <a:t>Data Source:</a:t>
            </a:r>
            <a:r>
              <a:rPr lang="en-US" altLang="zh-CN" sz="2000"/>
              <a:t> CellphoneDB </a:t>
            </a:r>
            <a:endParaRPr lang="en-US" altLang="zh-CN" sz="2000"/>
          </a:p>
          <a:p>
            <a:r>
              <a:rPr lang="en-US" altLang="zh-CN" sz="2000" b="1"/>
              <a:t>Tool:</a:t>
            </a:r>
            <a:r>
              <a:rPr lang="en-US" altLang="zh-CN" sz="2000"/>
              <a:t> python</a:t>
            </a:r>
            <a:endParaRPr lang="en-US" altLang="zh-CN" sz="2000"/>
          </a:p>
          <a:p>
            <a:r>
              <a:rPr lang="en-US" altLang="zh-CN" sz="2000" b="1"/>
              <a:t>Diverse Pair Types: </a:t>
            </a:r>
            <a:endParaRPr lang="en-US" altLang="zh-CN" sz="2000" b="1"/>
          </a:p>
          <a:p>
            <a:pPr lvl="1"/>
            <a:r>
              <a:rPr lang="en-US" altLang="zh-CN" sz="2000"/>
              <a:t>Includes Fc receptors, immune checkpoints, etc., requiring category-specific analysis</a:t>
            </a:r>
            <a:endParaRPr lang="en-US" altLang="zh-CN" sz="2000"/>
          </a:p>
          <a:p>
            <a:pPr lvl="1"/>
            <a:r>
              <a:rPr lang="en-US" altLang="zh-CN" sz="2000"/>
              <a:t>Functiona</a:t>
            </a:r>
            <a:r>
              <a:rPr lang="en-US" altLang="zh-CN" sz="2000">
                <a:solidFill>
                  <a:schemeClr val="tx1"/>
                </a:solidFill>
              </a:rPr>
              <a:t>l</a:t>
            </a:r>
            <a:r>
              <a:rPr lang="en-US" altLang="zh-CN" sz="2000"/>
              <a:t> Variability: Different pairs are involved in distinct biological functions, necessitating targeted selection based on research focus</a:t>
            </a:r>
            <a:endParaRPr lang="en-US" altLang="zh-CN" sz="2000"/>
          </a:p>
          <a:p>
            <a:r>
              <a:rPr lang="en-US" altLang="zh-CN" sz="2000" b="1"/>
              <a:t>Filtering Criteria:</a:t>
            </a:r>
            <a:endParaRPr lang="en-US" altLang="zh-CN" sz="2000" b="1"/>
          </a:p>
          <a:p>
            <a:pPr lvl="1"/>
            <a:r>
              <a:rPr lang="en-US" altLang="zh-CN" sz="2000"/>
              <a:t>Deduplication</a:t>
            </a:r>
            <a:r>
              <a:rPr lang="en-US" altLang="zh-CN" sz="2000" b="1"/>
              <a:t>:</a:t>
            </a:r>
            <a:r>
              <a:rPr lang="en-US" altLang="zh-CN" sz="2000"/>
              <a:t> One unique entry per </a:t>
            </a:r>
            <a:r>
              <a:rPr lang="en-US" altLang="zh-CN" sz="2000">
                <a:solidFill>
                  <a:srgbClr val="FF0000"/>
                </a:solidFill>
              </a:rPr>
              <a:t>gene_id</a:t>
            </a:r>
            <a:endParaRPr lang="en-US" altLang="zh-CN" sz="2000">
              <a:solidFill>
                <a:srgbClr val="FF0000"/>
              </a:solidFill>
            </a:endParaRPr>
          </a:p>
          <a:p>
            <a:pPr lvl="1"/>
            <a:r>
              <a:rPr lang="en-US" altLang="zh-CN" sz="2000"/>
              <a:t>At Least One Principle</a:t>
            </a:r>
            <a:r>
              <a:rPr lang="en-US" altLang="zh-CN" sz="2000" b="1"/>
              <a:t>:</a:t>
            </a:r>
            <a:r>
              <a:rPr lang="en-US" altLang="zh-CN" sz="2000"/>
              <a:t> </a:t>
            </a:r>
            <a:r>
              <a:rPr lang="zh-CN" altLang="en-US" sz="2000">
                <a:solidFill>
                  <a:schemeClr val="tx1"/>
                </a:solidFill>
              </a:rPr>
              <a:t>At least one of the ligand or receptor is present in the original gene data</a:t>
            </a:r>
            <a:endParaRPr lang="zh-CN" altLang="en-US" sz="2000">
              <a:solidFill>
                <a:schemeClr val="tx1"/>
              </a:solidFill>
            </a:endParaRPr>
          </a:p>
          <a:p>
            <a:pPr lvl="0"/>
            <a:r>
              <a:rPr lang="en-US" altLang="zh-CN" sz="2000">
                <a:solidFill>
                  <a:schemeClr val="tx1"/>
                </a:solidFill>
              </a:rPr>
              <a:t>Label each pair an Arabic numeral as </a:t>
            </a:r>
            <a:r>
              <a:rPr lang="en-US" altLang="zh-CN" sz="2000">
                <a:solidFill>
                  <a:srgbClr val="FF0000"/>
                </a:solidFill>
              </a:rPr>
              <a:t>pair_id</a:t>
            </a:r>
            <a:endParaRPr lang="en-US" altLang="zh-CN" sz="1600">
              <a:solidFill>
                <a:srgbClr val="FF0000"/>
              </a:solidFill>
            </a:endParaRPr>
          </a:p>
          <a:p>
            <a:endParaRPr lang="en-US" altLang="zh-CN" sz="1600">
              <a:solidFill>
                <a:srgbClr val="FF0000"/>
              </a:solidFill>
            </a:endParaRPr>
          </a:p>
          <a:p>
            <a:endParaRPr lang="en-US" altLang="zh-CN" sz="1600"/>
          </a:p>
          <a:p>
            <a:endParaRPr lang="en-US" altLang="zh-CN" sz="1600"/>
          </a:p>
          <a:p>
            <a:pPr marL="0" indent="0">
              <a:buNone/>
            </a:pPr>
            <a:endParaRPr lang="en-US" altLang="zh-CN" sz="1600"/>
          </a:p>
        </p:txBody>
      </p:sp>
      <p:pic>
        <p:nvPicPr>
          <p:cNvPr id="5" name="图片 4" descr="post_object_image_24938641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213" y="5177598"/>
            <a:ext cx="7714615" cy="12401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Pair Table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b="1"/>
              <a:t>Data Source:</a:t>
            </a:r>
            <a:r>
              <a:rPr lang="en-US" altLang="zh-CN" sz="2000"/>
              <a:t> CellphoneDB </a:t>
            </a:r>
            <a:endParaRPr lang="en-US" altLang="zh-CN" sz="2000"/>
          </a:p>
          <a:p>
            <a:r>
              <a:rPr lang="en-US" altLang="zh-CN" sz="2000" b="1"/>
              <a:t>Tool:</a:t>
            </a:r>
            <a:r>
              <a:rPr lang="en-US" altLang="zh-CN" sz="2000"/>
              <a:t> python</a:t>
            </a:r>
            <a:endParaRPr lang="en-US" altLang="zh-CN" sz="2000"/>
          </a:p>
          <a:p>
            <a:r>
              <a:rPr lang="en-US" altLang="zh-CN" sz="2000" b="1"/>
              <a:t>Diverse Pair Types: </a:t>
            </a:r>
            <a:endParaRPr lang="en-US" altLang="zh-CN" sz="2000" b="1"/>
          </a:p>
          <a:p>
            <a:pPr lvl="1"/>
            <a:r>
              <a:rPr lang="en-US" altLang="zh-CN" sz="2000"/>
              <a:t>Includes Fc receptors, immune checkpoints, etc., requiring category-specific analysis</a:t>
            </a:r>
            <a:endParaRPr lang="en-US" altLang="zh-CN" sz="2000"/>
          </a:p>
          <a:p>
            <a:pPr lvl="1"/>
            <a:r>
              <a:rPr lang="en-US" altLang="zh-CN" sz="2000"/>
              <a:t>Functiona</a:t>
            </a:r>
            <a:r>
              <a:rPr lang="en-US" altLang="zh-CN" sz="2000">
                <a:solidFill>
                  <a:schemeClr val="tx1"/>
                </a:solidFill>
              </a:rPr>
              <a:t>l</a:t>
            </a:r>
            <a:r>
              <a:rPr lang="en-US" altLang="zh-CN" sz="2000"/>
              <a:t> Variability: Different pairs are involved in distinct biological functions, necessitating targeted selection based on research focus</a:t>
            </a:r>
            <a:endParaRPr lang="en-US" altLang="zh-CN" sz="2000"/>
          </a:p>
          <a:p>
            <a:r>
              <a:rPr lang="en-US" altLang="zh-CN" sz="2000" b="1"/>
              <a:t>Filtering Criteria:</a:t>
            </a:r>
            <a:endParaRPr lang="en-US" altLang="zh-CN" sz="2000" b="1"/>
          </a:p>
          <a:p>
            <a:pPr lvl="1"/>
            <a:r>
              <a:rPr lang="en-US" altLang="zh-CN" sz="2000"/>
              <a:t>Deduplication</a:t>
            </a:r>
            <a:r>
              <a:rPr lang="en-US" altLang="zh-CN" sz="2000" b="1"/>
              <a:t>:</a:t>
            </a:r>
            <a:r>
              <a:rPr lang="en-US" altLang="zh-CN" sz="2000"/>
              <a:t> One unique entry per </a:t>
            </a:r>
            <a:r>
              <a:rPr lang="en-US" altLang="zh-CN" sz="2000">
                <a:solidFill>
                  <a:srgbClr val="FF0000"/>
                </a:solidFill>
              </a:rPr>
              <a:t>gene_id</a:t>
            </a:r>
            <a:endParaRPr lang="en-US" altLang="zh-CN" sz="2000">
              <a:solidFill>
                <a:srgbClr val="FF0000"/>
              </a:solidFill>
            </a:endParaRPr>
          </a:p>
          <a:p>
            <a:pPr lvl="1"/>
            <a:r>
              <a:rPr lang="en-US" altLang="zh-CN" sz="2000"/>
              <a:t>At Least One Principle</a:t>
            </a:r>
            <a:r>
              <a:rPr lang="en-US" altLang="zh-CN" sz="2000" b="1"/>
              <a:t>:</a:t>
            </a:r>
            <a:r>
              <a:rPr lang="en-US" altLang="zh-CN" sz="2000"/>
              <a:t> </a:t>
            </a:r>
            <a:r>
              <a:rPr lang="zh-CN" altLang="en-US" sz="2000">
                <a:solidFill>
                  <a:schemeClr val="tx1"/>
                </a:solidFill>
              </a:rPr>
              <a:t>At least one of the ligand or receptor is present in the original gene data</a:t>
            </a:r>
            <a:endParaRPr lang="zh-CN" altLang="en-US" sz="2000">
              <a:solidFill>
                <a:schemeClr val="tx1"/>
              </a:solidFill>
            </a:endParaRPr>
          </a:p>
          <a:p>
            <a:pPr lvl="0"/>
            <a:r>
              <a:rPr lang="en-US" altLang="zh-CN" sz="2000">
                <a:solidFill>
                  <a:schemeClr val="tx1"/>
                </a:solidFill>
              </a:rPr>
              <a:t>Label each pair an Arabic numeral as </a:t>
            </a:r>
            <a:r>
              <a:rPr lang="en-US" altLang="zh-CN" sz="2000">
                <a:solidFill>
                  <a:srgbClr val="FF0000"/>
                </a:solidFill>
              </a:rPr>
              <a:t>pair_id</a:t>
            </a:r>
            <a:endParaRPr lang="en-US" altLang="zh-CN" sz="1600">
              <a:solidFill>
                <a:srgbClr val="FF0000"/>
              </a:solidFill>
            </a:endParaRPr>
          </a:p>
          <a:p>
            <a:endParaRPr lang="en-US" altLang="zh-CN" sz="1600">
              <a:solidFill>
                <a:srgbClr val="FF0000"/>
              </a:solidFill>
            </a:endParaRPr>
          </a:p>
          <a:p>
            <a:endParaRPr lang="en-US" altLang="zh-CN" sz="1600"/>
          </a:p>
          <a:p>
            <a:endParaRPr lang="en-US" altLang="zh-CN" sz="1600"/>
          </a:p>
          <a:p>
            <a:pPr marL="0" indent="0">
              <a:buNone/>
            </a:pPr>
            <a:endParaRPr lang="en-US" altLang="zh-CN" sz="16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570" y="5156835"/>
            <a:ext cx="8165465" cy="13677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Pathway Table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400" b="1"/>
              <a:t>Data Source: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tx1"/>
                </a:solidFill>
              </a:rPr>
              <a:t>Reactome</a:t>
            </a:r>
            <a:endParaRPr lang="en-US" altLang="zh-CN" sz="240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b="1"/>
              <a:t>Tool:</a:t>
            </a:r>
            <a:r>
              <a:rPr lang="en-US" altLang="zh-CN" sz="2400"/>
              <a:t> python</a:t>
            </a:r>
            <a:endParaRPr lang="en-US" altLang="zh-CN" sz="2400"/>
          </a:p>
          <a:p>
            <a:r>
              <a:rPr lang="en-US" altLang="zh-CN" sz="2400" b="1"/>
              <a:t>Filtering Criteria:</a:t>
            </a:r>
            <a:endParaRPr lang="en-US" altLang="zh-CN" sz="2400" b="1"/>
          </a:p>
          <a:p>
            <a:pPr lvl="1"/>
            <a:r>
              <a:rPr lang="en-US" altLang="zh-CN" sz="2400" b="1">
                <a:solidFill>
                  <a:schemeClr val="tx1"/>
                </a:solidFill>
              </a:rPr>
              <a:t>Pathways </a:t>
            </a:r>
            <a:r>
              <a:rPr lang="en-US" altLang="zh-CN" sz="2400">
                <a:solidFill>
                  <a:schemeClr val="tx1"/>
                </a:solidFill>
              </a:rPr>
              <a:t>related to immune system</a:t>
            </a:r>
            <a:endParaRPr lang="en-US" altLang="zh-CN" sz="2400">
              <a:solidFill>
                <a:schemeClr val="tx1"/>
              </a:solidFill>
            </a:endParaRPr>
          </a:p>
          <a:p>
            <a:pPr lvl="1"/>
            <a:r>
              <a:rPr lang="en-US" altLang="zh-CN" sz="2400"/>
              <a:t>Assign unique numerical pathway_id to each selected pathway</a:t>
            </a:r>
            <a:endParaRPr lang="en-US" altLang="zh-CN" sz="2400"/>
          </a:p>
          <a:p>
            <a:endParaRPr lang="en-US" altLang="zh-CN" sz="2400"/>
          </a:p>
          <a:p>
            <a:endParaRPr lang="en-US" altLang="zh-CN" sz="2000"/>
          </a:p>
          <a:p>
            <a:pPr marL="0" indent="0">
              <a:buNone/>
            </a:pPr>
            <a:endParaRPr lang="en-US" altLang="zh-CN" sz="16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690" y="3490595"/>
            <a:ext cx="5591810" cy="19583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Pair_P</a:t>
            </a:r>
            <a:r>
              <a:rPr lang="en-US" altLang="zh-CN">
                <a:cs typeface="Arial" panose="020B0604020202020204" pitchFamily="34" charset="0"/>
              </a:rPr>
              <a:t>athway Table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2320" y="1252855"/>
            <a:ext cx="10193848" cy="3213716"/>
          </a:xfrm>
        </p:spPr>
        <p:txBody>
          <a:bodyPr>
            <a:normAutofit/>
          </a:bodyPr>
          <a:lstStyle/>
          <a:p>
            <a:r>
              <a:rPr lang="en-US" altLang="zh-CN" sz="2400"/>
              <a:t>Connects ligand-receptor pairs to their biological pathways</a:t>
            </a:r>
            <a:endParaRPr lang="en-US" altLang="zh-CN" sz="2400"/>
          </a:p>
          <a:p>
            <a:r>
              <a:rPr lang="en-US" altLang="zh-CN" sz="2400"/>
              <a:t>Enables many-to-many relationship analysis</a:t>
            </a:r>
            <a:endParaRPr lang="en-US" altLang="zh-CN" sz="2400"/>
          </a:p>
          <a:p>
            <a:r>
              <a:rPr lang="en-US" altLang="zh-CN" sz="2400" b="1"/>
              <a:t>Key Design:</a:t>
            </a:r>
            <a:endParaRPr lang="en-US" altLang="zh-CN" sz="2400" b="1"/>
          </a:p>
          <a:p>
            <a:pPr lvl="1"/>
            <a:r>
              <a:rPr lang="en-US" altLang="zh-CN" sz="2400"/>
              <a:t>Foreign Key Constrained</a:t>
            </a:r>
            <a:endParaRPr lang="en-US" altLang="zh-CN" sz="2400"/>
          </a:p>
          <a:p>
            <a:pPr lvl="1"/>
            <a:r>
              <a:rPr lang="en-US" altLang="zh-CN" sz="2400"/>
              <a:t>Composite Key: (pair_id, pathway_id)</a:t>
            </a:r>
            <a:endParaRPr lang="en-US" altLang="zh-CN" sz="2400"/>
          </a:p>
          <a:p>
            <a:pPr lvl="1"/>
            <a:r>
              <a:rPr lang="en-US" altLang="zh-CN" sz="2400"/>
              <a:t>Minimal Design: Stores only relationship mappings</a:t>
            </a:r>
            <a:endParaRPr lang="en-US" altLang="zh-CN" sz="2400"/>
          </a:p>
          <a:p>
            <a:pPr marL="457200" lvl="1" indent="0">
              <a:buNone/>
            </a:pPr>
            <a:endParaRPr lang="en-US" altLang="zh-CN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4610" y="3726815"/>
            <a:ext cx="3340735" cy="25615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Database Construction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Construction Process:</a:t>
            </a:r>
            <a:endParaRPr lang="en-US" altLang="zh-CN"/>
          </a:p>
          <a:p>
            <a:r>
              <a:rPr lang="en-US" altLang="zh-CN"/>
              <a:t>Python/R for data preprocessing </a:t>
            </a:r>
            <a:endParaRPr lang="en-US" altLang="zh-CN"/>
          </a:p>
          <a:p>
            <a:endParaRPr lang="en-US" altLang="en-US"/>
          </a:p>
          <a:p>
            <a:endParaRPr lang="en-US" altLang="zh-CN"/>
          </a:p>
        </p:txBody>
      </p:sp>
      <p:sp>
        <p:nvSpPr>
          <p:cNvPr id="4" name="下箭头 3"/>
          <p:cNvSpPr/>
          <p:nvPr/>
        </p:nvSpPr>
        <p:spPr>
          <a:xfrm>
            <a:off x="3082290" y="2234565"/>
            <a:ext cx="612140" cy="50736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782295" y="125278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zh-CN"/>
              <a:t>MySQL for table creation and import </a:t>
            </a:r>
            <a:endParaRPr lang="en-US" altLang="zh-CN"/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endParaRPr lang="en-US" altLang="zh-CN"/>
          </a:p>
        </p:txBody>
      </p:sp>
      <p:sp>
        <p:nvSpPr>
          <p:cNvPr id="5" name="下箭头 4"/>
          <p:cNvSpPr/>
          <p:nvPr/>
        </p:nvSpPr>
        <p:spPr>
          <a:xfrm>
            <a:off x="3082290" y="3283585"/>
            <a:ext cx="612140" cy="46291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782295" y="125278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DrawSQL for ER diagram visualization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5" grpId="0" animBg="1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Example Query 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CN" sz="2200" dirty="0">
                <a:solidFill>
                  <a:srgbClr val="000000"/>
                </a:solidFill>
              </a:rPr>
              <a:t>Which ligand-receptor signaling pairs involved in immune function are recurrently and significantly dysregulated across LUAD, COAD, and BRCA, and what are their expression patterns and associated biological pathways?</a:t>
            </a:r>
            <a:endParaRPr lang="en-US" altLang="zh-CN" sz="2200" dirty="0">
              <a:solidFill>
                <a:srgbClr val="00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29427"/>
          <a:stretch>
            <a:fillRect/>
          </a:stretch>
        </p:blipFill>
        <p:spPr>
          <a:xfrm>
            <a:off x="1012825" y="2328545"/>
            <a:ext cx="4868545" cy="37909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330" y="2328545"/>
            <a:ext cx="5022850" cy="37401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Conclusion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2320" y="1252855"/>
            <a:ext cx="10515600" cy="5437874"/>
          </a:xfrm>
        </p:spPr>
        <p:txBody>
          <a:bodyPr>
            <a:normAutofit/>
          </a:bodyPr>
          <a:lstStyle/>
          <a:p>
            <a:r>
              <a:rPr lang="en-US" altLang="zh-CN" sz="2400" b="1"/>
              <a:t>Core Achievement</a:t>
            </a:r>
            <a:r>
              <a:rPr lang="en-US" altLang="zh-CN" sz="2400"/>
              <a:t>: Build a streamlined, high-value pan-cancer immune interaction database</a:t>
            </a:r>
            <a:endParaRPr lang="en-US" altLang="zh-CN" sz="2400"/>
          </a:p>
          <a:p>
            <a:r>
              <a:rPr lang="en-US" altLang="zh-CN" sz="2400" b="1"/>
              <a:t>Problems Addressed</a:t>
            </a:r>
            <a:endParaRPr lang="en-US" altLang="zh-CN" sz="2400" b="1"/>
          </a:p>
          <a:p>
            <a:pPr lvl="1"/>
            <a:r>
              <a:rPr lang="en-US" altLang="zh-CN"/>
              <a:t>Cut redundant data processing</a:t>
            </a:r>
            <a:endParaRPr lang="en-US" altLang="zh-CN"/>
          </a:p>
          <a:p>
            <a:pPr lvl="1"/>
            <a:r>
              <a:rPr lang="en-US" altLang="zh-CN"/>
              <a:t>Enabled in-depth tumor-immune mechanism exploration</a:t>
            </a:r>
            <a:endParaRPr lang="en-US" altLang="zh-CN"/>
          </a:p>
          <a:p>
            <a:pPr lvl="1"/>
            <a:r>
              <a:rPr lang="en-US" altLang="zh-CN"/>
              <a:t>Connected pan-cancer data to clinical immune research</a:t>
            </a:r>
            <a:endParaRPr lang="en-US" altLang="zh-CN"/>
          </a:p>
          <a:p>
            <a:r>
              <a:rPr lang="en-US" altLang="zh-CN" sz="2400" b="1"/>
              <a:t>Future Directions</a:t>
            </a:r>
            <a:endParaRPr lang="en-US" altLang="zh-CN" sz="2400" b="1"/>
          </a:p>
          <a:p>
            <a:pPr lvl="1"/>
            <a:r>
              <a:rPr lang="en-US" altLang="zh-CN"/>
              <a:t>Expand data sources (single-cell, spatial transcriptomics)</a:t>
            </a:r>
            <a:endParaRPr lang="en-US" altLang="zh-CN"/>
          </a:p>
          <a:p>
            <a:pPr lvl="1"/>
            <a:r>
              <a:rPr lang="en-US" altLang="zh-CN"/>
              <a:t>Add immunotherapy response prediction modules</a:t>
            </a:r>
            <a:endParaRPr lang="en-US" altLang="zh-CN"/>
          </a:p>
          <a:p>
            <a:pPr lvl="1"/>
            <a:r>
              <a:rPr lang="en-US" altLang="zh-CN"/>
              <a:t>Develop a user-friendly web interface</a:t>
            </a:r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Contribution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Huang Yunzi: Pathway table </a:t>
            </a:r>
            <a:r>
              <a:rPr lang="zh-CN" altLang="en-US"/>
              <a:t>&amp;</a:t>
            </a:r>
            <a:r>
              <a:rPr lang="en-US" altLang="zh-CN"/>
              <a:t> Construct database </a:t>
            </a:r>
            <a:r>
              <a:rPr lang="zh-CN" altLang="en-US"/>
              <a:t>&amp;</a:t>
            </a:r>
            <a:r>
              <a:rPr lang="en-US" altLang="zh-CN"/>
              <a:t>Presentation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Li Yue: Pair table </a:t>
            </a:r>
            <a:r>
              <a:rPr lang="zh-CN" altLang="en-US"/>
              <a:t>&amp;</a:t>
            </a:r>
            <a:r>
              <a:rPr lang="en-US" altLang="zh-CN"/>
              <a:t> Make slides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Shen Yiqing: Pair table </a:t>
            </a:r>
            <a:r>
              <a:rPr lang="zh-CN" altLang="en-US"/>
              <a:t>&amp; </a:t>
            </a:r>
            <a:r>
              <a:rPr lang="en-US" altLang="zh-CN"/>
              <a:t>Make slides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Tang Wanling: Pathway table </a:t>
            </a:r>
            <a:r>
              <a:rPr lang="zh-CN" altLang="en-US"/>
              <a:t>&amp; </a:t>
            </a:r>
            <a:r>
              <a:rPr lang="en-US" altLang="zh-CN"/>
              <a:t>Presentation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Zhang Xinyu: Patient and sample table </a:t>
            </a:r>
            <a:r>
              <a:rPr lang="zh-CN" altLang="en-US"/>
              <a:t>&amp; </a:t>
            </a:r>
            <a:r>
              <a:rPr lang="en-US" altLang="zh-CN"/>
              <a:t>Presentation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Together: Gene </a:t>
            </a:r>
            <a:r>
              <a:rPr lang="zh-CN" altLang="en-US"/>
              <a:t>&amp; </a:t>
            </a:r>
            <a:r>
              <a:rPr lang="en-US" altLang="zh-CN"/>
              <a:t>Protein table</a:t>
            </a:r>
            <a:endParaRPr lang="en-US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2261403"/>
            <a:ext cx="12192000" cy="43513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zh-CN" sz="6000" b="1"/>
              <a:t>Thank you!</a:t>
            </a:r>
            <a:endParaRPr lang="zh-CN" altLang="en-US" sz="9600" b="1"/>
          </a:p>
        </p:txBody>
      </p:sp>
      <p:sp>
        <p:nvSpPr>
          <p:cNvPr id="4" name="矩形 3"/>
          <p:cNvSpPr/>
          <p:nvPr userDrawn="1"/>
        </p:nvSpPr>
        <p:spPr>
          <a:xfrm>
            <a:off x="-232410" y="-114935"/>
            <a:ext cx="12545695" cy="1406525"/>
          </a:xfrm>
          <a:prstGeom prst="rect">
            <a:avLst/>
          </a:prstGeom>
          <a:solidFill>
            <a:schemeClr val="bg1">
              <a:alpha val="100000"/>
            </a:scheme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6601</Words>
  <Application>WPS 演示</Application>
  <PresentationFormat>宽屏</PresentationFormat>
  <Paragraphs>285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Design and Implementation of  a Pan-Cancer Immune Interaction Database</vt:lpstr>
      <vt:lpstr>Background </vt:lpstr>
      <vt:lpstr>Research Objectives </vt:lpstr>
      <vt:lpstr> Database Schema Design</vt:lpstr>
      <vt:lpstr>ER Diagram</vt:lpstr>
      <vt:lpstr>Cancer_Type Table</vt:lpstr>
      <vt:lpstr>Patient &amp; Sample Table</vt:lpstr>
      <vt:lpstr>Patient &amp; Sample Table</vt:lpstr>
      <vt:lpstr>Patient &amp; Sample Table</vt:lpstr>
      <vt:lpstr>Patient &amp; Sample Table</vt:lpstr>
      <vt:lpstr>Gene_Cancer Table</vt:lpstr>
      <vt:lpstr>Gene_Cancer Table</vt:lpstr>
      <vt:lpstr>Gene_Cancer Table</vt:lpstr>
      <vt:lpstr>Gene &amp; Protein Tables</vt:lpstr>
      <vt:lpstr>Gene Table</vt:lpstr>
      <vt:lpstr>Protein Tables</vt:lpstr>
      <vt:lpstr>Pair Table</vt:lpstr>
      <vt:lpstr>Pair Table</vt:lpstr>
      <vt:lpstr>Pathway Table</vt:lpstr>
      <vt:lpstr>Pair_Pathway Table</vt:lpstr>
      <vt:lpstr>Database Construction</vt:lpstr>
      <vt:lpstr>Example Query </vt:lpstr>
      <vt:lpstr>Conclusion</vt:lpstr>
      <vt:lpstr>Contribution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Implementation of  a Pan-Cancer Immune Interaction Database</dc:title>
  <dc:creator>Lucas</dc:creator>
  <cp:lastModifiedBy>应景饮流白</cp:lastModifiedBy>
  <cp:revision>16</cp:revision>
  <dcterms:created xsi:type="dcterms:W3CDTF">2025-12-15T18:40:00Z</dcterms:created>
  <dcterms:modified xsi:type="dcterms:W3CDTF">2025-12-20T14:50:45Z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8EF8CBC7538E49DBACC1075D8444393D_13</vt:lpwstr>
  </property>
</Properties>
</file>